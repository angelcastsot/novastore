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JetBrains Mono"/>
      <ns0:regular ns1:id="rIdFont14"/>
    </ns0:embeddedFont>
    <ns0:embeddedFont>
      <ns0:font typeface="Inter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34add8e0-5905-48fc-bcec-7ef58ca0fc61.fntdata" /><ns0:Relationship Id="rIdFont15" Type="http://schemas.openxmlformats.org/officeDocument/2006/relationships/font" Target="fonts/ccf47736-6ae1-4d93-9150-ea8d7903d7bb.fntdata" /><ns0:Relationship Id="rIdFont16" Type="http://schemas.openxmlformats.org/officeDocument/2006/relationships/font" Target="fonts/d4eec600-3ee5-45bf-b1f0-018eb91ad1d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1989832"/>
            <a:ext cx="762000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76875" y="4525267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08214" y="2370832"/>
            <a:ext cx="4575571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Inter"/>
              </a:rPr>
              <a:t>NovaStore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428107"/>
            <a:ext cx="7143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Arquitectura Frontend, Semántica y Trabajo Colaborativo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4493" y="4601467"/>
            <a:ext cx="124301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nter"/>
              </a:rPr>
              <a:t>Evaluación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0" y="1905000"/>
            <a:ext cx="5181600" cy="30480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27052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41427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55802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644997"/>
            <a:ext cx="6477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01 / 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87897"/>
            <a:ext cx="554069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Estructura y</a:t>
            </a:r>
            <a:r>
              <a:t>
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 Semántica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2209800"/>
            <a:ext cx="4667250" cy="243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E2E8F0"/>
                </a:solidFill>
                <a:latin typeface="JetBrains Mono"/>
              </a:rPr>
              <a:t>&lt;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main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500" i="0" u="none">
                <a:solidFill>
                  <a:srgbClr val="A78BFA"/>
                </a:solidFill>
                <a:latin typeface="JetBrains Mono"/>
              </a:rPr>
              <a:t>class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=</a:t>
            </a:r>
            <a:r>
              <a:rPr b="0" sz="1500" i="0" u="none">
                <a:solidFill>
                  <a:srgbClr val="A3E635"/>
                </a:solidFill>
                <a:latin typeface="JetBrains Mono"/>
              </a:rPr>
              <a:t>"container"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  &lt;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section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500" i="0" u="none">
                <a:solidFill>
                  <a:srgbClr val="A78BFA"/>
                </a:solidFill>
                <a:latin typeface="JetBrains Mono"/>
              </a:rPr>
              <a:t>id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=</a:t>
            </a:r>
            <a:r>
              <a:rPr b="0" sz="1500" i="0" u="none">
                <a:solidFill>
                  <a:srgbClr val="A3E635"/>
                </a:solidFill>
                <a:latin typeface="JetBrains Mono"/>
              </a:rPr>
              <a:t>"catalogo"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500" i="0" u="none">
                <a:solidFill>
                  <a:srgbClr val="A78BFA"/>
                </a:solidFill>
                <a:latin typeface="JetBrains Mono"/>
              </a:rPr>
              <a:t>class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=</a:t>
            </a:r>
            <a:r>
              <a:rPr b="0" sz="1500" i="0" u="none">
                <a:solidFill>
                  <a:srgbClr val="A3E635"/>
                </a:solidFill>
                <a:latin typeface="JetBrains Mono"/>
              </a:rPr>
              <a:t>"row"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    &lt;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article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500" i="0" u="none">
                <a:solidFill>
                  <a:srgbClr val="A78BFA"/>
                </a:solidFill>
                <a:latin typeface="JetBrains Mono"/>
              </a:rPr>
              <a:t>class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=</a:t>
            </a:r>
            <a:r>
              <a:rPr b="0" sz="1500" i="0" u="none">
                <a:solidFill>
                  <a:srgbClr val="A3E635"/>
                </a:solidFill>
                <a:latin typeface="JetBrains Mono"/>
              </a:rPr>
              <a:t>"col-md-4 card"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      &lt;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h3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&gt;Silla Apex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h3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      &lt;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p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&gt;Mobiliario Ergonómico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p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    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article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section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500" i="0" u="none">
                <a:solidFill>
                  <a:srgbClr val="38BDF8"/>
                </a:solidFill>
                <a:latin typeface="JetBrains Mono"/>
              </a:rPr>
              <a:t>main</a:t>
            </a:r>
            <a:r>
              <a:rPr b="0" sz="1500" i="0" u="none">
                <a:solidFill>
                  <a:srgbClr val="E2E8F0"/>
                </a:solidFill>
                <a:latin typeface="JetBrains Mono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298477"/>
            <a:ext cx="31051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Organización lógica.</a:t>
            </a:r>
            <a:r>
              <a:rPr b="1" sz="1650" i="0" u="none">
                <a:solidFill>
                  <a:srgbClr val="1E293B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Uso estricto de section, article y nav.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012852"/>
            <a:ext cx="3524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Accesibilidad nativa.</a:t>
            </a:r>
            <a:r>
              <a:rPr b="1" sz="1650" i="0" u="none">
                <a:solidFill>
                  <a:srgbClr val="1E293B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Etiquetado claro para lectores de pantalla.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727227"/>
            <a:ext cx="29908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Mantenimiento eficiente.</a:t>
            </a:r>
            <a:r>
              <a:rPr b="1" sz="1650" i="0" u="none">
                <a:solidFill>
                  <a:srgbClr val="1E293B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Código predecible y estandarizado.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75669"/>
            <a:ext cx="3454449" cy="22687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8849" y="2855714"/>
            <a:ext cx="3454449" cy="250864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2975669"/>
            <a:ext cx="3454449" cy="22687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75669"/>
            <a:ext cx="345444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2855714"/>
            <a:ext cx="345444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2975669"/>
            <a:ext cx="3454449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00" y="3470969"/>
            <a:ext cx="3429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825" y="3351014"/>
            <a:ext cx="51435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49" y="3470969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Inter"/>
              </a:rPr>
              <a:t>02 / DISEÑO Y ESTILOS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952500"/>
            <a:ext cx="12954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Arquitectura CSS Modular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892" y="4156769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variables.css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793" y="4547294"/>
            <a:ext cx="35560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Paleta global y tipografías 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9141" y="4036814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components.css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43" y="4427339"/>
            <a:ext cx="3556062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Tarjetas, botones y alertas modulares.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8391" y="4156769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tienda.css / admin.css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93" y="4547294"/>
            <a:ext cx="3556062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Estilos específicos por módulo.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05297"/>
            <a:ext cx="5105400" cy="3047404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10097"/>
            <a:ext cx="4591050" cy="243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8BDF8"/>
                </a:solidFill>
                <a:latin typeface="JetBrains Mono"/>
              </a:rPr>
              <a:t>function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200" i="0" u="none">
                <a:solidFill>
                  <a:srgbClr val="A3E635"/>
                </a:solidFill>
                <a:latin typeface="JetBrains Mono"/>
              </a:rPr>
              <a:t>validaRegistro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(data) {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if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(!validaRun(data.run)) 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return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200" i="0" u="none">
                <a:solidFill>
                  <a:srgbClr val="A3E635"/>
                </a:solidFill>
                <a:latin typeface="JetBrains Mono"/>
              </a:rPr>
              <a:t>false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if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(!dominioValido(data.correo)) 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return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200" i="0" u="none">
                <a:solidFill>
                  <a:srgbClr val="A3E635"/>
                </a:solidFill>
                <a:latin typeface="JetBrains Mono"/>
              </a:rPr>
              <a:t>false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if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(data.pass.length &lt; 8) 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return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200" i="0" u="none">
                <a:solidFill>
                  <a:srgbClr val="A3E635"/>
                </a:solidFill>
                <a:latin typeface="JetBrains Mono"/>
              </a:rPr>
              <a:t>false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  localStorage.setItem(</a:t>
            </a:r>
            <a:r>
              <a:rPr b="0" sz="1200" i="0" u="none">
                <a:solidFill>
                  <a:srgbClr val="A3E635"/>
                </a:solidFill>
                <a:latin typeface="JetBrains Mono"/>
              </a:rPr>
              <a:t>'users'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, JSON.stringify(data));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1200" i="0" u="none">
                <a:solidFill>
                  <a:srgbClr val="38BDF8"/>
                </a:solidFill>
                <a:latin typeface="JetBrains Mono"/>
              </a:rPr>
              <a:t>return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200" i="0" u="none">
                <a:solidFill>
                  <a:srgbClr val="A3E635"/>
                </a:solidFill>
                <a:latin typeface="JetBrains Mono"/>
              </a:rPr>
              <a:t>true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0" y="1839217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03 / JAVASCRIPT (VALIDACIONES.JS)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0" y="2182117"/>
            <a:ext cx="571500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Validación Estricta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2989808"/>
            <a:ext cx="571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Reglas de negocio.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313658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Formato RUN chileno y dominios permitidos.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742283"/>
            <a:ext cx="571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Feedback visual.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066133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Sugerencias en tiempo real al usuario.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4494758"/>
            <a:ext cx="571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Persistencia local.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818608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Almacenamiento seguro en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1975" y="327942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1975" y="407000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1975" y="486057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24000"/>
            <a:ext cx="5181600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24000"/>
            <a:ext cx="51816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568797"/>
            <a:ext cx="6477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04 / CONTROL DE VERSIONES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11697"/>
            <a:ext cx="554069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Repositorio</a:t>
            </a:r>
            <a:r>
              <a:t>
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 NovaStore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279427"/>
            <a:ext cx="5029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Organización por ramas.</a:t>
            </a:r>
            <a:r>
              <a:rPr b="1" sz="1650" i="0" u="none">
                <a:solidFill>
                  <a:srgbClr val="1E293B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Separación entre Tienda y Panel Admin.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070002"/>
            <a:ext cx="5029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Commits modulares.</a:t>
            </a:r>
            <a:r>
              <a:rPr b="1" sz="1650" i="0" u="none">
                <a:solidFill>
                  <a:srgbClr val="1E293B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Cambios atómicos en CSS y JS específicos.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860577"/>
            <a:ext cx="5029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Trabajo colaborativo.</a:t>
            </a:r>
            <a:r>
              <a:rPr b="1" sz="1650" i="0" u="none">
                <a:solidFill>
                  <a:srgbClr val="1E293B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Gestión de componentes sin conflictos.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83298" y="2809875"/>
            <a:ext cx="3225403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Gracias.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5" y="3771900"/>
            <a:ext cx="5048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¿Preguntas sobre la implementación?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https://media.istockphoto.com/id/1441381295/vector/version-control-dark-map.jpg?s=612x612&amp;w=0&amp;k=20&amp;c=skcfp_4D_jmXUTerlAzqXTL8zggnq1jcpjR_rHi-hKM=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